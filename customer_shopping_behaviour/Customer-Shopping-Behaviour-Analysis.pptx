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 Semi Bold"/>
      <p:regular r:id="rId19"/>
    </p:embeddedFont>
    <p:embeddedFont>
      <p:font typeface="Tomorrow Semi Bold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  <p:embeddedFont>
      <p:font typeface="Tomorrow"/>
      <p:regular r:id="rId23"/>
    </p:embeddedFont>
    <p:embeddedFont>
      <p:font typeface="Tomorr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Customer Shopping Behaviour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93790" y="2338864"/>
            <a:ext cx="2032040" cy="426244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5" name="Text 2"/>
          <p:cNvSpPr/>
          <p:nvPr/>
        </p:nvSpPr>
        <p:spPr>
          <a:xfrm>
            <a:off x="929878" y="2406848"/>
            <a:ext cx="17598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855833"/>
            <a:ext cx="82716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Data Behind the Insights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93790" y="3904774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084" y="4162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65248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3,900 Transactions analyzed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904774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4256" y="4162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74256" y="465248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18 Features per customer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3904774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97427" y="4162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897427" y="465248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37 In Review Rating column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55278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Dataset includes demographics, purchase details, shopping behavior, and customer preferences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6613"/>
            <a:ext cx="191488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552218"/>
            <a:ext cx="16274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08823"/>
            <a:ext cx="8080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057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12807"/>
            <a:ext cx="4196358" cy="304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587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07753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962" y="3057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412807"/>
            <a:ext cx="4196358" cy="304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1" name="Text 9"/>
          <p:cNvSpPr/>
          <p:nvPr/>
        </p:nvSpPr>
        <p:spPr>
          <a:xfrm>
            <a:off x="5216962" y="3587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6962" y="407753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3057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412807"/>
            <a:ext cx="4196358" cy="304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5" name="Text 13"/>
          <p:cNvSpPr/>
          <p:nvPr/>
        </p:nvSpPr>
        <p:spPr>
          <a:xfrm>
            <a:off x="9640133" y="3587115"/>
            <a:ext cx="3218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0133" y="407753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Imputed Review Ratings using median by category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2001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555218"/>
            <a:ext cx="6407944" cy="304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5729526"/>
            <a:ext cx="29051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3790" y="6219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age groups and purchase frequency metrics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428548" y="52001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5555218"/>
            <a:ext cx="6407944" cy="304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3" name="Text 21"/>
          <p:cNvSpPr/>
          <p:nvPr/>
        </p:nvSpPr>
        <p:spPr>
          <a:xfrm>
            <a:off x="7428548" y="5729526"/>
            <a:ext cx="30321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8548" y="6219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Connected to MySQL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619738"/>
            <a:ext cx="1799392" cy="426244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3742134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3687723"/>
            <a:ext cx="12550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SQL INSIGHTS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41367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Revenue Analysis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541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Gender Breakdown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59936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Male customers drive majority of revenue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65605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Male: $157,890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70027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Female: $75,191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599521" y="5412462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Subscription Impact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599521" y="59936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Non-subscribers generate more total revenue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599521" y="65605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No: $170,436 (2,847 customers)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599521" y="70027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Yes: $62,645 (1,053 customers)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31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8953"/>
            <a:ext cx="3386138" cy="283488"/>
          </a:xfrm>
          <a:prstGeom prst="roundRect">
            <a:avLst>
              <a:gd name="adj" fmla="val 12002"/>
            </a:avLst>
          </a:prstGeom>
          <a:solidFill>
            <a:srgbClr val="F0EAE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048953"/>
            <a:ext cx="2607231" cy="283488"/>
          </a:xfrm>
          <a:prstGeom prst="roundRect">
            <a:avLst>
              <a:gd name="adj" fmla="val 12002"/>
            </a:avLst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4349948" y="3048953"/>
            <a:ext cx="6024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77%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3.86 average rating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048953"/>
            <a:ext cx="3355538" cy="283488"/>
          </a:xfrm>
          <a:prstGeom prst="roundRect">
            <a:avLst>
              <a:gd name="adj" fmla="val 12002"/>
            </a:avLst>
          </a:prstGeom>
          <a:solidFill>
            <a:srgbClr val="F0EAEA"/>
          </a:solidFill>
          <a:ln/>
        </p:spPr>
      </p:sp>
      <p:sp>
        <p:nvSpPr>
          <p:cNvPr id="9" name="Shape 7"/>
          <p:cNvSpPr/>
          <p:nvPr/>
        </p:nvSpPr>
        <p:spPr>
          <a:xfrm>
            <a:off x="5235893" y="3048953"/>
            <a:ext cx="2550200" cy="283488"/>
          </a:xfrm>
          <a:prstGeom prst="roundRect">
            <a:avLst>
              <a:gd name="adj" fmla="val 12002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8761452" y="3048953"/>
            <a:ext cx="63305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76%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89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5893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3.84 average rating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77995" y="3048953"/>
            <a:ext cx="3355538" cy="283488"/>
          </a:xfrm>
          <a:prstGeom prst="roundRect">
            <a:avLst>
              <a:gd name="adj" fmla="val 12002"/>
            </a:avLst>
          </a:prstGeom>
          <a:solidFill>
            <a:srgbClr val="F0EAE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7995" y="3048953"/>
            <a:ext cx="2550200" cy="283488"/>
          </a:xfrm>
          <a:prstGeom prst="roundRect">
            <a:avLst>
              <a:gd name="adj" fmla="val 12002"/>
            </a:avLst>
          </a:prstGeom>
          <a:solidFill>
            <a:srgbClr val="1D1D1B"/>
          </a:solidFill>
          <a:ln/>
        </p:spPr>
      </p:sp>
      <p:sp>
        <p:nvSpPr>
          <p:cNvPr id="15" name="Text 13"/>
          <p:cNvSpPr/>
          <p:nvPr/>
        </p:nvSpPr>
        <p:spPr>
          <a:xfrm>
            <a:off x="13203555" y="3048953"/>
            <a:ext cx="63305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76%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77995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77995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3.82 average rating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036106"/>
            <a:ext cx="3355538" cy="283488"/>
          </a:xfrm>
          <a:prstGeom prst="roundRect">
            <a:avLst>
              <a:gd name="adj" fmla="val 12002"/>
            </a:avLst>
          </a:prstGeom>
          <a:solidFill>
            <a:srgbClr val="F0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90" y="5036106"/>
            <a:ext cx="2550200" cy="283488"/>
          </a:xfrm>
          <a:prstGeom prst="roundRect">
            <a:avLst>
              <a:gd name="adj" fmla="val 12002"/>
            </a:avLst>
          </a:prstGeom>
          <a:solidFill>
            <a:srgbClr val="1D1D1B"/>
          </a:solidFill>
          <a:ln/>
        </p:spPr>
      </p:sp>
      <p:sp>
        <p:nvSpPr>
          <p:cNvPr id="20" name="Text 18"/>
          <p:cNvSpPr/>
          <p:nvPr/>
        </p:nvSpPr>
        <p:spPr>
          <a:xfrm>
            <a:off x="4319349" y="5036106"/>
            <a:ext cx="63305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3790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0933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3.80 average rating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5235893" y="5036106"/>
            <a:ext cx="3363754" cy="283488"/>
          </a:xfrm>
          <a:prstGeom prst="roundRect">
            <a:avLst>
              <a:gd name="adj" fmla="val 12002"/>
            </a:avLst>
          </a:prstGeom>
          <a:solidFill>
            <a:srgbClr val="F0EAEA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5893" y="5036106"/>
            <a:ext cx="2522815" cy="283488"/>
          </a:xfrm>
          <a:prstGeom prst="roundRect">
            <a:avLst>
              <a:gd name="adj" fmla="val 12002"/>
            </a:avLst>
          </a:prstGeom>
          <a:solidFill>
            <a:srgbClr val="1D1D1B"/>
          </a:solidFill>
          <a:ln/>
        </p:spPr>
      </p:sp>
      <p:sp>
        <p:nvSpPr>
          <p:cNvPr id="25" name="Text 23"/>
          <p:cNvSpPr/>
          <p:nvPr/>
        </p:nvSpPr>
        <p:spPr>
          <a:xfrm>
            <a:off x="8769668" y="5036106"/>
            <a:ext cx="62484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75%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35893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5893" y="60933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3.78 average rating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2711"/>
            <a:ext cx="2293144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08315"/>
            <a:ext cx="20057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64920"/>
            <a:ext cx="94934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Understanding Customer Loyalty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1743789" y="3920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410551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0954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Highest purchase frequency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313861"/>
            <a:ext cx="4564975" cy="456497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717" y="4426506"/>
            <a:ext cx="339328" cy="339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37790" y="2693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3184327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9937790" y="3683317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Moderate engagement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313861"/>
            <a:ext cx="4564975" cy="4564975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3042880"/>
            <a:ext cx="339328" cy="339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37790" y="5146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9937790" y="5636895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9937790" y="61358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First-time buyers</a:t>
            </a:r>
            <a:endParaRPr lang="en-US" sz="1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313861"/>
            <a:ext cx="4564975" cy="45649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4326" y="5810131"/>
            <a:ext cx="339328" cy="3393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3790" y="71339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Repeat buyers (&gt;5 purchases): 958 subscribed, 2,518 non-subscribed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223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Shipping &amp; Discount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0684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Shipping Type Performance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24231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Express: $60.48 avg purchase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4741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Standard: $58.46 avg purchase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97729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Express shipping correlates with higher spending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30684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424231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Hat: 50% discount rate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68451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Sneakers: 49.66%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1267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Coat: 49.07%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56891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Sweater: 48.17%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01110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Pants: 47.37%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820" y="514112"/>
            <a:ext cx="2113598" cy="350282"/>
          </a:xfrm>
          <a:prstGeom prst="roundRect">
            <a:avLst>
              <a:gd name="adj" fmla="val 6390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619" y="614601"/>
            <a:ext cx="149185" cy="149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8338" y="569952"/>
            <a:ext cx="166628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2820" y="938927"/>
            <a:ext cx="5960150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Performance Metrics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52820" y="1801416"/>
            <a:ext cx="6569154" cy="107453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</p:sp>
      <p:sp>
        <p:nvSpPr>
          <p:cNvPr id="7" name="Text 4"/>
          <p:cNvSpPr/>
          <p:nvPr/>
        </p:nvSpPr>
        <p:spPr>
          <a:xfrm>
            <a:off x="839272" y="1987868"/>
            <a:ext cx="23314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3.90K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9272" y="2391013"/>
            <a:ext cx="6196251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Total Customers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8426" y="1801416"/>
            <a:ext cx="6569154" cy="107453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7594878" y="1987868"/>
            <a:ext cx="23314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$233K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94878" y="2391013"/>
            <a:ext cx="6196251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Sales Revenue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2820" y="3062407"/>
            <a:ext cx="6569154" cy="107453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839272" y="3248858"/>
            <a:ext cx="23314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$59.76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9272" y="3652004"/>
            <a:ext cx="6196251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Average Purchase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408426" y="3062407"/>
            <a:ext cx="6569154" cy="107453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</p:sp>
      <p:sp>
        <p:nvSpPr>
          <p:cNvPr id="16" name="Text 13"/>
          <p:cNvSpPr/>
          <p:nvPr/>
        </p:nvSpPr>
        <p:spPr>
          <a:xfrm>
            <a:off x="7594878" y="3248858"/>
            <a:ext cx="23314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3.75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594878" y="3652004"/>
            <a:ext cx="6196251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Average Rating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2778562" y="5559028"/>
            <a:ext cx="2294096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73%</a:t>
            </a:r>
            <a:endParaRPr lang="en-US" sz="36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863" y="4393287"/>
            <a:ext cx="2797731" cy="279773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759988" y="7424023"/>
            <a:ext cx="23314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Non-Subscribers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557504" y="5559028"/>
            <a:ext cx="2294096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27%</a:t>
            </a:r>
            <a:endParaRPr lang="en-US" sz="36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806" y="4393287"/>
            <a:ext cx="2797731" cy="27977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38930" y="7424023"/>
            <a:ext cx="23314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Subscribers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4286250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Revenue Distribution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213" y="1264920"/>
            <a:ext cx="13505974" cy="7563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Young adults lead revenue generation, followed closely by middle-aged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37724"/>
            <a:ext cx="3112175" cy="426244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05708"/>
            <a:ext cx="28399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54693"/>
            <a:ext cx="64323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Action Plan for Growth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74379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CFCFC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271331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7" name="Shape 5"/>
          <p:cNvSpPr/>
          <p:nvPr/>
        </p:nvSpPr>
        <p:spPr>
          <a:xfrm>
            <a:off x="2551688" y="24036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2755761" y="257377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084" y="3310771"/>
            <a:ext cx="2907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084" y="380118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Promote exclusive benefits to convert 73% non-subscribers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274379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CF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6962" y="271331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74860" y="24036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933" y="257377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74256" y="3310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74256" y="380118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Reward repeat buyers to grow loyal segment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9640133" y="274379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CF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0133" y="271331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98032" y="24036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D1D1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02105" y="257377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97427" y="3310771"/>
            <a:ext cx="3345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97427" y="380118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Balance sales growth with margin control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3790" y="5351264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CF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93790" y="5320784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540" y="50111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D1D1B"/>
          </a:solidFill>
          <a:ln/>
        </p:spPr>
      </p:sp>
      <p:sp>
        <p:nvSpPr>
          <p:cNvPr id="26" name="Text 24"/>
          <p:cNvSpPr/>
          <p:nvPr/>
        </p:nvSpPr>
        <p:spPr>
          <a:xfrm>
            <a:off x="3861614" y="51812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51084" y="5918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51084" y="640865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Highlight top-rated items in marketing campaigns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428548" y="5351264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CF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428548" y="5320784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92298" y="50111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D1D1B"/>
          </a:solidFill>
          <a:ln/>
        </p:spPr>
      </p:sp>
      <p:sp>
        <p:nvSpPr>
          <p:cNvPr id="32" name="Text 30"/>
          <p:cNvSpPr/>
          <p:nvPr/>
        </p:nvSpPr>
        <p:spPr>
          <a:xfrm>
            <a:off x="10496371" y="51812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685842" y="5918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685842" y="640865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Focus on high-revenue age groups and express 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2026-01-02T09:44:59Z</dcterms:created>
  <dcterms:modified xsi:type="dcterms:W3CDTF">2026-01-02T09:44:59Z</dcterms:modified>
</cp:coreProperties>
</file>